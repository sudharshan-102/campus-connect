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59" r:id="rId4"/>
    <p:sldId id="257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4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5BD822-4562-4762-3B05-EE6B397B3BB6}" v="49" dt="2026-10-13T20:39:24.2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9335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4ED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4ED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804672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rgbClr val="3B2F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65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65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77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A6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CASE STUDY  ·  GRAPH DATABASE MODEL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rgbClr val="3B2F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 Connect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4884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7A6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Student Relationship and Mentorship Network Using SurrealDB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56616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SUDHARSHAN.K (CB.SC.U4CSE25763)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AKILAN.T (CB.SC.U4CSE25704)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SIVA VARDHAN.V (CB.SC.U4CSE25755)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 flipV="1">
            <a:off x="6400800" y="1005840"/>
            <a:ext cx="1463040" cy="274320"/>
          </a:xfrm>
          <a:prstGeom prst="line">
            <a:avLst/>
          </a:prstGeom>
          <a:noFill/>
          <a:ln w="19050">
            <a:solidFill>
              <a:srgbClr val="D3C2A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0" y="1280160"/>
            <a:ext cx="457200" cy="1188720"/>
          </a:xfrm>
          <a:prstGeom prst="line">
            <a:avLst/>
          </a:prstGeom>
          <a:noFill/>
          <a:ln w="19050">
            <a:solidFill>
              <a:srgbClr val="D3C2A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5760720" y="1280160"/>
            <a:ext cx="640080" cy="548640"/>
          </a:xfrm>
          <a:prstGeom prst="line">
            <a:avLst/>
          </a:prstGeom>
          <a:noFill/>
          <a:ln w="19050">
            <a:solidFill>
              <a:srgbClr val="D3C2A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0" y="1005840"/>
            <a:ext cx="274320" cy="1280160"/>
          </a:xfrm>
          <a:prstGeom prst="line">
            <a:avLst/>
          </a:prstGeom>
          <a:noFill/>
          <a:ln w="19050">
            <a:solidFill>
              <a:srgbClr val="D3C2A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6858000" y="2286000"/>
            <a:ext cx="1280160" cy="182880"/>
          </a:xfrm>
          <a:prstGeom prst="line">
            <a:avLst/>
          </a:prstGeom>
          <a:noFill/>
          <a:ln w="19050">
            <a:solidFill>
              <a:srgbClr val="D3C2A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6035040" y="2468880"/>
            <a:ext cx="822960" cy="1097280"/>
          </a:xfrm>
          <a:prstGeom prst="line">
            <a:avLst/>
          </a:prstGeom>
          <a:noFill/>
          <a:ln w="19050">
            <a:solidFill>
              <a:srgbClr val="D3C2A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0" y="2468880"/>
            <a:ext cx="640080" cy="1280160"/>
          </a:xfrm>
          <a:prstGeom prst="line">
            <a:avLst/>
          </a:prstGeom>
          <a:noFill/>
          <a:ln w="19050">
            <a:solidFill>
              <a:srgbClr val="D3C2A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H="1">
            <a:off x="7498080" y="2286000"/>
            <a:ext cx="640080" cy="1463040"/>
          </a:xfrm>
          <a:prstGeom prst="line">
            <a:avLst/>
          </a:prstGeom>
          <a:noFill/>
          <a:ln w="19050">
            <a:solidFill>
              <a:srgbClr val="D3C2A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60720" y="1828800"/>
            <a:ext cx="274320" cy="1737360"/>
          </a:xfrm>
          <a:prstGeom prst="line">
            <a:avLst/>
          </a:prstGeom>
          <a:noFill/>
          <a:ln w="19050">
            <a:solidFill>
              <a:srgbClr val="D3C2A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7498080" y="3520440"/>
            <a:ext cx="960120" cy="228600"/>
          </a:xfrm>
          <a:prstGeom prst="line">
            <a:avLst/>
          </a:prstGeom>
          <a:noFill/>
          <a:ln w="19050">
            <a:solidFill>
              <a:srgbClr val="D3C2A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2286000"/>
            <a:ext cx="320040" cy="1234440"/>
          </a:xfrm>
          <a:prstGeom prst="line">
            <a:avLst/>
          </a:prstGeom>
          <a:noFill/>
          <a:ln w="19050">
            <a:solidFill>
              <a:srgbClr val="D3C2A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3566160"/>
            <a:ext cx="1463040" cy="182880"/>
          </a:xfrm>
          <a:prstGeom prst="line">
            <a:avLst/>
          </a:prstGeom>
          <a:noFill/>
          <a:ln w="19050">
            <a:solidFill>
              <a:srgbClr val="D3C2A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44768" y="1024128"/>
            <a:ext cx="512064" cy="512064"/>
          </a:xfrm>
          <a:prstGeom prst="ellipse">
            <a:avLst/>
          </a:prstGeom>
          <a:solidFill>
            <a:srgbClr val="A0653A"/>
          </a:solidFill>
          <a:ln w="12700">
            <a:solidFill>
              <a:srgbClr val="A065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680960" y="822960"/>
            <a:ext cx="365760" cy="365760"/>
          </a:xfrm>
          <a:prstGeom prst="ellipse">
            <a:avLst/>
          </a:prstGeom>
          <a:solidFill>
            <a:srgbClr val="E6D9C3"/>
          </a:solidFill>
          <a:ln w="12700">
            <a:solidFill>
              <a:srgbClr val="7A665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845552" y="1993392"/>
            <a:ext cx="585216" cy="585216"/>
          </a:xfrm>
          <a:prstGeom prst="ellipse">
            <a:avLst/>
          </a:prstGeom>
          <a:solidFill>
            <a:srgbClr val="D3C2A5"/>
          </a:solidFill>
          <a:ln w="12700">
            <a:solidFill>
              <a:srgbClr val="7A665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656832" y="2267712"/>
            <a:ext cx="402336" cy="402336"/>
          </a:xfrm>
          <a:prstGeom prst="ellipse">
            <a:avLst/>
          </a:prstGeom>
          <a:solidFill>
            <a:srgbClr val="E6D9C3"/>
          </a:solidFill>
          <a:ln w="12700">
            <a:solidFill>
              <a:srgbClr val="7A665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596128" y="1664208"/>
            <a:ext cx="329184" cy="329184"/>
          </a:xfrm>
          <a:prstGeom prst="ellipse">
            <a:avLst/>
          </a:prstGeom>
          <a:solidFill>
            <a:srgbClr val="E6D9C3"/>
          </a:solidFill>
          <a:ln w="12700">
            <a:solidFill>
              <a:srgbClr val="7A665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760720" y="3291840"/>
            <a:ext cx="548640" cy="548640"/>
          </a:xfrm>
          <a:prstGeom prst="ellipse">
            <a:avLst/>
          </a:prstGeom>
          <a:solidFill>
            <a:srgbClr val="D3C2A5"/>
          </a:solidFill>
          <a:ln w="12700">
            <a:solidFill>
              <a:srgbClr val="7A665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296912" y="3547872"/>
            <a:ext cx="402336" cy="402336"/>
          </a:xfrm>
          <a:prstGeom prst="ellipse">
            <a:avLst/>
          </a:prstGeom>
          <a:solidFill>
            <a:srgbClr val="E6D9C3"/>
          </a:solidFill>
          <a:ln w="12700">
            <a:solidFill>
              <a:srgbClr val="7A665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321040" y="3383280"/>
            <a:ext cx="274320" cy="274320"/>
          </a:xfrm>
          <a:prstGeom prst="ellipse">
            <a:avLst/>
          </a:prstGeom>
          <a:solidFill>
            <a:srgbClr val="E6D9C3"/>
          </a:solidFill>
          <a:ln w="12700">
            <a:solidFill>
              <a:srgbClr val="7A665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A6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TECH STACK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B2F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toolkit behind the network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8046720" cy="0"/>
          </a:xfrm>
          <a:prstGeom prst="line">
            <a:avLst/>
          </a:prstGeom>
          <a:noFill/>
          <a:ln w="9525">
            <a:solidFill>
              <a:srgbClr val="D3C2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146304" cy="146304"/>
          </a:xfrm>
          <a:prstGeom prst="ellipse">
            <a:avLst/>
          </a:prstGeom>
          <a:solidFill>
            <a:srgbClr val="A0653A"/>
          </a:solidFill>
          <a:ln w="6350">
            <a:solidFill>
              <a:srgbClr val="A065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645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A6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158191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06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SurrealDB</a:t>
            </a:r>
            <a:r>
              <a:rPr lang="en-US" sz="1400" dirty="0">
                <a:solidFill>
                  <a:srgbClr val="7A6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graph model, the only database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029968"/>
            <a:ext cx="8046720" cy="0"/>
          </a:xfrm>
          <a:prstGeom prst="line">
            <a:avLst/>
          </a:prstGeom>
          <a:noFill/>
          <a:ln w="9525">
            <a:solidFill>
              <a:srgbClr val="D3C2A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212848"/>
            <a:ext cx="146304" cy="146304"/>
          </a:xfrm>
          <a:prstGeom prst="ellipse">
            <a:avLst/>
          </a:prstGeom>
          <a:solidFill>
            <a:srgbClr val="D3C2A5"/>
          </a:solidFill>
          <a:ln w="6350">
            <a:solidFill>
              <a:srgbClr val="D3C2A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21671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A6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21031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B2F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 + Express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551176"/>
            <a:ext cx="8046720" cy="0"/>
          </a:xfrm>
          <a:prstGeom prst="line">
            <a:avLst/>
          </a:prstGeom>
          <a:noFill/>
          <a:ln w="9525">
            <a:solidFill>
              <a:srgbClr val="D3C2A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734056"/>
            <a:ext cx="146304" cy="146304"/>
          </a:xfrm>
          <a:prstGeom prst="ellipse">
            <a:avLst/>
          </a:prstGeom>
          <a:solidFill>
            <a:srgbClr val="D3C2A5"/>
          </a:solidFill>
          <a:ln w="6350">
            <a:solidFill>
              <a:srgbClr val="D3C2A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268833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A6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743200" y="262432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B2F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+ Vite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072384"/>
            <a:ext cx="8046720" cy="0"/>
          </a:xfrm>
          <a:prstGeom prst="line">
            <a:avLst/>
          </a:prstGeom>
          <a:noFill/>
          <a:ln w="9525">
            <a:solidFill>
              <a:srgbClr val="D3C2A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255264"/>
            <a:ext cx="146304" cy="146304"/>
          </a:xfrm>
          <a:prstGeom prst="ellipse">
            <a:avLst/>
          </a:prstGeom>
          <a:solidFill>
            <a:srgbClr val="D3C2A5"/>
          </a:solidFill>
          <a:ln w="6350">
            <a:solidFill>
              <a:srgbClr val="D3C2A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32095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A6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VIEW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743200" y="3145536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B2F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Cytoscape.js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593592"/>
            <a:ext cx="8046720" cy="0"/>
          </a:xfrm>
          <a:prstGeom prst="line">
            <a:avLst/>
          </a:prstGeom>
          <a:noFill/>
          <a:ln w="9525">
            <a:solidFill>
              <a:srgbClr val="D3C2A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776472"/>
            <a:ext cx="146304" cy="146304"/>
          </a:xfrm>
          <a:prstGeom prst="ellipse">
            <a:avLst/>
          </a:prstGeom>
          <a:solidFill>
            <a:srgbClr val="D3C2A5"/>
          </a:solidFill>
          <a:ln w="6350">
            <a:solidFill>
              <a:srgbClr val="D3C2A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" y="37307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A6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743200" y="366674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B2F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SELECT over WebSocket</a:t>
            </a:r>
            <a:r>
              <a:rPr lang="en-US" sz="1400" dirty="0">
                <a:solidFill>
                  <a:srgbClr val="7A6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pushed to the browser by SSE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4114800"/>
            <a:ext cx="8046720" cy="0"/>
          </a:xfrm>
          <a:prstGeom prst="line">
            <a:avLst/>
          </a:prstGeom>
          <a:noFill/>
          <a:ln w="9525">
            <a:solidFill>
              <a:srgbClr val="D3C2A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297680"/>
            <a:ext cx="146304" cy="146304"/>
          </a:xfrm>
          <a:prstGeom prst="ellipse">
            <a:avLst/>
          </a:prstGeom>
          <a:solidFill>
            <a:srgbClr val="D3C2A5"/>
          </a:solidFill>
          <a:ln w="6350">
            <a:solidFill>
              <a:srgbClr val="D3C2A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4400" y="4251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A6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2743200" y="418795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B2F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+ JSON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4636008"/>
            <a:ext cx="8046720" cy="0"/>
          </a:xfrm>
          <a:prstGeom prst="line">
            <a:avLst/>
          </a:prstGeom>
          <a:noFill/>
          <a:ln w="9525">
            <a:solidFill>
              <a:srgbClr val="D3C2A5"/>
            </a:solidFill>
            <a:prstDash val="solid"/>
          </a:ln>
        </p:spPr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65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A6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ARCHITECTURE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B2F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click travels, and finds its way back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flows back to the browser as a live event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20240"/>
            <a:ext cx="2011680" cy="731520"/>
          </a:xfrm>
          <a:prstGeom prst="roundRect">
            <a:avLst>
              <a:gd name="adj" fmla="val 12500"/>
            </a:avLst>
          </a:prstGeom>
          <a:solidFill>
            <a:srgbClr val="E6D9C3"/>
          </a:solidFill>
          <a:ln w="12700">
            <a:solidFill>
              <a:srgbClr val="7A665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client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A6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Cytoscape graph view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1920240"/>
            <a:ext cx="2011680" cy="731520"/>
          </a:xfrm>
          <a:prstGeom prst="roundRect">
            <a:avLst>
              <a:gd name="adj" fmla="val 12500"/>
            </a:avLst>
          </a:prstGeom>
          <a:solidFill>
            <a:srgbClr val="E6D9C3"/>
          </a:solidFill>
          <a:ln w="12700">
            <a:solidFill>
              <a:srgbClr val="7A665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API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A6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+ services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92240" y="1920240"/>
            <a:ext cx="2011680" cy="731520"/>
          </a:xfrm>
          <a:prstGeom prst="roundRect">
            <a:avLst>
              <a:gd name="adj" fmla="val 12500"/>
            </a:avLst>
          </a:prstGeom>
          <a:solidFill>
            <a:srgbClr val="EAD7BE"/>
          </a:solidFill>
          <a:ln w="25400">
            <a:solidFill>
              <a:srgbClr val="A065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SurrealDB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A6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+ edges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3291840"/>
            <a:ext cx="2011680" cy="731520"/>
          </a:xfrm>
          <a:prstGeom prst="roundRect">
            <a:avLst>
              <a:gd name="adj" fmla="val 12500"/>
            </a:avLst>
          </a:prstGeom>
          <a:solidFill>
            <a:srgbClr val="E6D9C3"/>
          </a:solidFill>
          <a:ln w="12700">
            <a:solidFill>
              <a:srgbClr val="7A665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hub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A6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dedupe + sequence numbers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651760" y="2286000"/>
            <a:ext cx="914400" cy="0"/>
          </a:xfrm>
          <a:prstGeom prst="line">
            <a:avLst/>
          </a:prstGeom>
          <a:noFill/>
          <a:ln w="15875">
            <a:solidFill>
              <a:srgbClr val="7A6650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2651760" y="2011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6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JSON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0" y="2286000"/>
            <a:ext cx="914400" cy="0"/>
          </a:xfrm>
          <a:prstGeom prst="line">
            <a:avLst/>
          </a:prstGeom>
          <a:noFill/>
          <a:ln w="15875">
            <a:solidFill>
              <a:srgbClr val="7A6650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5577840" y="2011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6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SurrealQL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98080" y="2651760"/>
            <a:ext cx="0" cy="1005840"/>
          </a:xfrm>
          <a:prstGeom prst="line">
            <a:avLst/>
          </a:prstGeom>
          <a:noFill/>
          <a:ln w="15875">
            <a:solidFill>
              <a:srgbClr val="7A66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H="1">
            <a:off x="5577840" y="3657600"/>
            <a:ext cx="1920240" cy="0"/>
          </a:xfrm>
          <a:prstGeom prst="line">
            <a:avLst/>
          </a:prstGeom>
          <a:noFill/>
          <a:ln w="15875">
            <a:solidFill>
              <a:srgbClr val="7A6650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7589520" y="2926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A6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SELECT events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 flipH="1">
            <a:off x="1645920" y="3657600"/>
            <a:ext cx="1920240" cy="0"/>
          </a:xfrm>
          <a:prstGeom prst="line">
            <a:avLst/>
          </a:prstGeom>
          <a:noFill/>
          <a:ln w="15875">
            <a:solidFill>
              <a:srgbClr val="7A66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1645920" y="2651760"/>
            <a:ext cx="0" cy="1005840"/>
          </a:xfrm>
          <a:prstGeom prst="line">
            <a:avLst/>
          </a:prstGeom>
          <a:noFill/>
          <a:ln w="15875">
            <a:solidFill>
              <a:srgbClr val="7A6650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1828800" y="33375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6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stream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343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7A6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go left to right. Live events come back through the hub to the browser.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65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A6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WHY A GRAPH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B2F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campus is a web, not a spreadsheet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10512"/>
            <a:ext cx="457200" cy="0"/>
          </a:xfrm>
          <a:prstGeom prst="line">
            <a:avLst/>
          </a:prstGeom>
          <a:noFill/>
          <a:ln w="25400">
            <a:solidFill>
              <a:srgbClr val="7A665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88720" y="1691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friends with whom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267712"/>
            <a:ext cx="457200" cy="0"/>
          </a:xfrm>
          <a:prstGeom prst="line">
            <a:avLst/>
          </a:prstGeom>
          <a:noFill/>
          <a:ln w="38100">
            <a:solidFill>
              <a:srgbClr val="A065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2148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mentors whom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724912"/>
            <a:ext cx="457200" cy="0"/>
          </a:xfrm>
          <a:prstGeom prst="line">
            <a:avLst/>
          </a:prstGeom>
          <a:noFill/>
          <a:ln w="25400">
            <a:solidFill>
              <a:srgbClr val="7A6650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1188720" y="2606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collaborates on what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2004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7A6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questions are paths: friends of friends, mentor chains, shared skills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 flipV="1">
            <a:off x="4937760" y="1783080"/>
            <a:ext cx="1371600" cy="228600"/>
          </a:xfrm>
          <a:prstGeom prst="line">
            <a:avLst/>
          </a:prstGeom>
          <a:noFill/>
          <a:ln w="25400">
            <a:solidFill>
              <a:srgbClr val="7A66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1783080"/>
            <a:ext cx="1463040" cy="411480"/>
          </a:xfrm>
          <a:prstGeom prst="line">
            <a:avLst/>
          </a:prstGeom>
          <a:noFill/>
          <a:ln w="25400">
            <a:solidFill>
              <a:srgbClr val="7A66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H="1">
            <a:off x="7040880" y="2194560"/>
            <a:ext cx="731520" cy="1280160"/>
          </a:xfrm>
          <a:prstGeom prst="line">
            <a:avLst/>
          </a:prstGeom>
          <a:noFill/>
          <a:ln w="25400">
            <a:solidFill>
              <a:srgbClr val="7A66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0" y="2304288"/>
            <a:ext cx="274320" cy="877824"/>
          </a:xfrm>
          <a:prstGeom prst="line">
            <a:avLst/>
          </a:prstGeom>
          <a:noFill/>
          <a:ln w="38100">
            <a:solidFill>
              <a:srgbClr val="A0653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394960" y="3474720"/>
            <a:ext cx="1645920" cy="0"/>
          </a:xfrm>
          <a:prstGeom prst="line">
            <a:avLst/>
          </a:prstGeom>
          <a:noFill/>
          <a:ln w="25400">
            <a:solidFill>
              <a:srgbClr val="7A6650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6400800" y="2057400"/>
            <a:ext cx="548640" cy="1143000"/>
          </a:xfrm>
          <a:prstGeom prst="line">
            <a:avLst/>
          </a:prstGeom>
          <a:noFill/>
          <a:ln w="38100">
            <a:solidFill>
              <a:srgbClr val="A0653A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4663440" y="1737360"/>
            <a:ext cx="548640" cy="548640"/>
          </a:xfrm>
          <a:prstGeom prst="ellipse">
            <a:avLst/>
          </a:prstGeom>
          <a:solidFill>
            <a:srgbClr val="EAD7BE"/>
          </a:solidFill>
          <a:ln w="12700">
            <a:solidFill>
              <a:srgbClr val="7A665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0" y="1508760"/>
            <a:ext cx="548640" cy="548640"/>
          </a:xfrm>
          <a:prstGeom prst="ellipse">
            <a:avLst/>
          </a:prstGeom>
          <a:solidFill>
            <a:srgbClr val="EAD7BE"/>
          </a:solidFill>
          <a:ln w="12700">
            <a:solidFill>
              <a:srgbClr val="7A665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498080" y="1920240"/>
            <a:ext cx="548640" cy="548640"/>
          </a:xfrm>
          <a:prstGeom prst="ellipse">
            <a:avLst/>
          </a:prstGeom>
          <a:solidFill>
            <a:srgbClr val="E6D9C3"/>
          </a:solidFill>
          <a:ln w="12700">
            <a:solidFill>
              <a:srgbClr val="7A665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120640" y="3200400"/>
            <a:ext cx="548640" cy="548640"/>
          </a:xfrm>
          <a:prstGeom prst="ellipse">
            <a:avLst/>
          </a:prstGeom>
          <a:solidFill>
            <a:srgbClr val="E6D9C3"/>
          </a:solidFill>
          <a:ln w="12700">
            <a:solidFill>
              <a:srgbClr val="7A665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766560" y="3200400"/>
            <a:ext cx="548640" cy="548640"/>
          </a:xfrm>
          <a:prstGeom prst="ellipse">
            <a:avLst/>
          </a:prstGeom>
          <a:solidFill>
            <a:srgbClr val="E6D9C3"/>
          </a:solidFill>
          <a:ln w="12700">
            <a:solidFill>
              <a:srgbClr val="7A665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A06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a graph database each of these is one hop along an arrow.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65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A6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GRAPH SCHEMA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B2F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Dots, and the lines that connect them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 flipH="1">
            <a:off x="1005840" y="1783080"/>
            <a:ext cx="1280160" cy="685800"/>
          </a:xfrm>
          <a:prstGeom prst="line">
            <a:avLst/>
          </a:prstGeom>
          <a:noFill/>
          <a:ln w="19050">
            <a:solidFill>
              <a:srgbClr val="D3C2A5"/>
            </a:solidFill>
            <a:prstDash val="sysDot"/>
          </a:ln>
        </p:spPr>
      </p:sp>
      <p:sp>
        <p:nvSpPr>
          <p:cNvPr id="5" name="Shape 3"/>
          <p:cNvSpPr/>
          <p:nvPr/>
        </p:nvSpPr>
        <p:spPr>
          <a:xfrm>
            <a:off x="2286000" y="1783080"/>
            <a:ext cx="1280160" cy="685800"/>
          </a:xfrm>
          <a:prstGeom prst="line">
            <a:avLst/>
          </a:prstGeom>
          <a:noFill/>
          <a:ln w="19050">
            <a:solidFill>
              <a:srgbClr val="D3C2A5"/>
            </a:solidFill>
            <a:prstDash val="sysDot"/>
          </a:ln>
        </p:spPr>
      </p:sp>
      <p:sp>
        <p:nvSpPr>
          <p:cNvPr id="6" name="Shape 4"/>
          <p:cNvSpPr/>
          <p:nvPr/>
        </p:nvSpPr>
        <p:spPr>
          <a:xfrm>
            <a:off x="1005840" y="2468880"/>
            <a:ext cx="2560320" cy="0"/>
          </a:xfrm>
          <a:prstGeom prst="line">
            <a:avLst/>
          </a:prstGeom>
          <a:noFill/>
          <a:ln w="25400">
            <a:solidFill>
              <a:srgbClr val="7A66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2715768"/>
            <a:ext cx="896112" cy="896112"/>
          </a:xfrm>
          <a:prstGeom prst="line">
            <a:avLst/>
          </a:prstGeom>
          <a:noFill/>
          <a:ln w="38100">
            <a:solidFill>
              <a:srgbClr val="A0653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H="1">
            <a:off x="2532888" y="2715768"/>
            <a:ext cx="896112" cy="896112"/>
          </a:xfrm>
          <a:prstGeom prst="line">
            <a:avLst/>
          </a:prstGeom>
          <a:noFill/>
          <a:ln w="25400">
            <a:solidFill>
              <a:srgbClr val="7A665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029968" y="1527048"/>
            <a:ext cx="512064" cy="512064"/>
          </a:xfrm>
          <a:prstGeom prst="diamond">
            <a:avLst/>
          </a:prstGeom>
          <a:solidFill>
            <a:srgbClr val="EAD7BE"/>
          </a:solidFill>
          <a:ln w="15875">
            <a:solidFill>
              <a:srgbClr val="A065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194560"/>
            <a:ext cx="548640" cy="548640"/>
          </a:xfrm>
          <a:prstGeom prst="ellipse">
            <a:avLst/>
          </a:prstGeom>
          <a:solidFill>
            <a:srgbClr val="E6D9C3"/>
          </a:solidFill>
          <a:ln w="12700">
            <a:solidFill>
              <a:srgbClr val="7A665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2194560"/>
            <a:ext cx="548640" cy="548640"/>
          </a:xfrm>
          <a:prstGeom prst="ellipse">
            <a:avLst/>
          </a:prstGeom>
          <a:solidFill>
            <a:srgbClr val="E6D9C3"/>
          </a:solidFill>
          <a:ln w="12700">
            <a:solidFill>
              <a:srgbClr val="7A665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011680" y="3474720"/>
            <a:ext cx="548640" cy="548640"/>
          </a:xfrm>
          <a:prstGeom prst="ellipse">
            <a:avLst/>
          </a:prstGeom>
          <a:solidFill>
            <a:srgbClr val="E6D9C3"/>
          </a:solidFill>
          <a:ln w="12700">
            <a:solidFill>
              <a:srgbClr val="7A665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828800" y="2377440"/>
            <a:ext cx="914400" cy="201168"/>
          </a:xfrm>
          <a:prstGeom prst="rect">
            <a:avLst/>
          </a:prstGeom>
          <a:solidFill>
            <a:srgbClr val="F4EDE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friends_with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154680"/>
            <a:ext cx="685800" cy="201168"/>
          </a:xfrm>
          <a:prstGeom prst="rect">
            <a:avLst/>
          </a:prstGeom>
          <a:solidFill>
            <a:srgbClr val="F4EDE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834640" y="3154680"/>
            <a:ext cx="1188720" cy="201168"/>
          </a:xfrm>
          <a:prstGeom prst="rect">
            <a:avLst/>
          </a:prstGeom>
          <a:solidFill>
            <a:srgbClr val="F4EDE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collaborates_with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1828800"/>
            <a:ext cx="640080" cy="201168"/>
          </a:xfrm>
          <a:prstGeom prst="rect">
            <a:avLst/>
          </a:prstGeom>
          <a:solidFill>
            <a:srgbClr val="F4EDE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involves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651760" y="16916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A6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1508760"/>
            <a:ext cx="4023360" cy="0"/>
          </a:xfrm>
          <a:prstGeom prst="line">
            <a:avLst/>
          </a:prstGeom>
          <a:noFill/>
          <a:ln w="9525">
            <a:solidFill>
              <a:srgbClr val="D3C2A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0" y="15544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06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154533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Profile, year, department, skills, interests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1554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A6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0" y="1965960"/>
            <a:ext cx="4023360" cy="0"/>
          </a:xfrm>
          <a:prstGeom prst="line">
            <a:avLst/>
          </a:prstGeom>
          <a:noFill/>
          <a:ln w="9525">
            <a:solidFill>
              <a:srgbClr val="D3C2A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0" y="2011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06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friends_with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217920" y="200253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Friendship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863840" y="20116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A6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0" y="2423160"/>
            <a:ext cx="4023360" cy="0"/>
          </a:xfrm>
          <a:prstGeom prst="line">
            <a:avLst/>
          </a:prstGeom>
          <a:noFill/>
          <a:ln w="9525">
            <a:solidFill>
              <a:srgbClr val="D3C2A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0" y="24688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06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mentorship_request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217920" y="245973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Pending, accepted, rejected or cancelled request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7863840" y="2468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A6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0" y="2880360"/>
            <a:ext cx="4023360" cy="0"/>
          </a:xfrm>
          <a:prstGeom prst="line">
            <a:avLst/>
          </a:prstGeom>
          <a:noFill/>
          <a:ln w="9525">
            <a:solidFill>
              <a:srgbClr val="D3C2A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572000" y="2926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06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217920" y="291693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or ended mentorship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863840" y="29260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A6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0" y="3337560"/>
            <a:ext cx="4023360" cy="0"/>
          </a:xfrm>
          <a:prstGeom prst="line">
            <a:avLst/>
          </a:prstGeom>
          <a:noFill/>
          <a:ln w="9525">
            <a:solidFill>
              <a:srgbClr val="D3C2A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572000" y="33832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06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collaborates_with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6217920" y="337413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collaboration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7863840" y="33832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A6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0" y="3794760"/>
            <a:ext cx="4023360" cy="0"/>
          </a:xfrm>
          <a:prstGeom prst="line">
            <a:avLst/>
          </a:prstGeom>
          <a:noFill/>
          <a:ln w="9525">
            <a:solidFill>
              <a:srgbClr val="D3C2A5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572000" y="38404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06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activity, involves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6217920" y="383133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feed linked to the students involved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7863840" y="3840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A6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+ EDGE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43708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A06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data  </a:t>
            </a:r>
            <a:r>
              <a:rPr lang="en-US" sz="1200" dirty="0">
                <a:solidFill>
                  <a:srgbClr val="7A6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fictional students · 18 friendships · 5 mentorships · 4 pending requests · 7 collaborations</a:t>
            </a:r>
            <a:endParaRPr lang="en-US" sz="12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65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A6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INTEGRITY RULES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B2F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the database refuses to break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468880" cy="0"/>
          </a:xfrm>
          <a:prstGeom prst="line">
            <a:avLst/>
          </a:prstGeom>
          <a:noFill/>
          <a:ln w="12700">
            <a:solidFill>
              <a:srgbClr val="D3C2A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5564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C9A2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774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are typed: each relation allows only student to student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337560" y="1645920"/>
            <a:ext cx="2468880" cy="0"/>
          </a:xfrm>
          <a:prstGeom prst="line">
            <a:avLst/>
          </a:prstGeom>
          <a:noFill/>
          <a:ln w="12700">
            <a:solidFill>
              <a:srgbClr val="D3C2A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37560" y="175564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C9A2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337560" y="23774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self-friendship and no self-mentoring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26480" y="1645920"/>
            <a:ext cx="2468880" cy="0"/>
          </a:xfrm>
          <a:prstGeom prst="line">
            <a:avLst/>
          </a:prstGeom>
          <a:noFill/>
          <a:ln w="12700">
            <a:solidFill>
              <a:srgbClr val="D3C2A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26480" y="175564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C9A2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23774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mentor must be in a higher year than the mentee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2468880" cy="0"/>
          </a:xfrm>
          <a:prstGeom prst="line">
            <a:avLst/>
          </a:prstGeom>
          <a:noFill/>
          <a:ln w="12700">
            <a:solidFill>
              <a:srgbClr val="D3C2A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21868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C9A2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840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open request per pair of students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337560" y="3108960"/>
            <a:ext cx="2468880" cy="0"/>
          </a:xfrm>
          <a:prstGeom prst="line">
            <a:avLst/>
          </a:prstGeom>
          <a:noFill/>
          <a:ln w="12700">
            <a:solidFill>
              <a:srgbClr val="D3C2A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337560" y="321868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C9A2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3337560" y="3840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active mentorship per pair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126480" y="3108960"/>
            <a:ext cx="2468880" cy="0"/>
          </a:xfrm>
          <a:prstGeom prst="line">
            <a:avLst/>
          </a:prstGeom>
          <a:noFill/>
          <a:ln w="12700">
            <a:solidFill>
              <a:srgbClr val="D3C2A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26480" y="321868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C9A2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400" dirty="0"/>
          </a:p>
        </p:txBody>
      </p:sp>
      <p:sp>
        <p:nvSpPr>
          <p:cNvPr id="21" name="Text 19"/>
          <p:cNvSpPr txBox="1"/>
          <p:nvPr/>
        </p:nvSpPr>
        <p:spPr>
          <a:xfrm>
            <a:off x="6126480" y="3840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friendship is stored once, in one fixed direction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65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A6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ATOMIC MENTORSHIP TRANSACTION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B2F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Accept it all, or accept nothing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783080"/>
            <a:ext cx="0" cy="2267712"/>
          </a:xfrm>
          <a:prstGeom prst="line">
            <a:avLst/>
          </a:prstGeom>
          <a:noFill/>
          <a:ln w="25400">
            <a:solidFill>
              <a:srgbClr val="D3C2A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600200"/>
            <a:ext cx="365760" cy="365760"/>
          </a:xfrm>
          <a:prstGeom prst="ellipse">
            <a:avLst/>
          </a:prstGeom>
          <a:solidFill>
            <a:srgbClr val="E6D9C3"/>
          </a:solidFill>
          <a:ln w="12700">
            <a:solidFill>
              <a:srgbClr val="7A665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554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request is pending and belongs to this mentor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167128"/>
            <a:ext cx="365760" cy="365760"/>
          </a:xfrm>
          <a:prstGeom prst="ellipse">
            <a:avLst/>
          </a:prstGeom>
          <a:solidFill>
            <a:srgbClr val="E6D9C3"/>
          </a:solidFill>
          <a:ln w="12700">
            <a:solidFill>
              <a:srgbClr val="7A665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1214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the request accepted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734056"/>
            <a:ext cx="365760" cy="365760"/>
          </a:xfrm>
          <a:prstGeom prst="ellipse">
            <a:avLst/>
          </a:prstGeom>
          <a:solidFill>
            <a:srgbClr val="A0653A"/>
          </a:solidFill>
          <a:ln w="12700">
            <a:solidFill>
              <a:srgbClr val="A065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68833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mentors edge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300984"/>
            <a:ext cx="365760" cy="365760"/>
          </a:xfrm>
          <a:prstGeom prst="ellipse">
            <a:avLst/>
          </a:prstGeom>
          <a:solidFill>
            <a:srgbClr val="E6D9C3"/>
          </a:solidFill>
          <a:ln w="12700">
            <a:solidFill>
              <a:srgbClr val="7A665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25526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the activity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3867912"/>
            <a:ext cx="365760" cy="365760"/>
          </a:xfrm>
          <a:prstGeom prst="ellipse">
            <a:avLst/>
          </a:prstGeom>
          <a:solidFill>
            <a:srgbClr val="E6D9C3"/>
          </a:solidFill>
          <a:ln w="12700">
            <a:solidFill>
              <a:srgbClr val="7A665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82219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the result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389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A06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step throws an error, nothing is saved.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36118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7A6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demo. </a:t>
            </a:r>
            <a:r>
              <a:rPr lang="en-US" sz="1100" dirty="0">
                <a:solidFill>
                  <a:srgbClr val="7A6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error is forced after the edge is created. The edge disappears and the request stays pending.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812280" y="36118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7A6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Committed. </a:t>
            </a:r>
            <a:r>
              <a:rPr lang="en-US" sz="1100" dirty="0">
                <a:solidFill>
                  <a:srgbClr val="7A6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 error, all steps succeed together.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65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A5C94EB-59E3-416C-02DA-1EAEC51971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828799"/>
            <a:ext cx="4023360" cy="16550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A6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REAL-TIME LIVE UPDATES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B2F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 here, watch it appear there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81912"/>
            <a:ext cx="402336" cy="402336"/>
          </a:xfrm>
          <a:prstGeom prst="ellipse">
            <a:avLst/>
          </a:prstGeom>
          <a:solidFill>
            <a:srgbClr val="A0653A"/>
          </a:solidFill>
          <a:ln w="12700">
            <a:solidFill>
              <a:srgbClr val="A065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51560" y="1783080"/>
            <a:ext cx="1508760" cy="0"/>
          </a:xfrm>
          <a:prstGeom prst="line">
            <a:avLst/>
          </a:prstGeom>
          <a:noFill/>
          <a:ln w="19050">
            <a:solidFill>
              <a:srgbClr val="7A6650"/>
            </a:solidFill>
            <a:prstDash val="solid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548640" y="21488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SELECT watches 6 tables in SurrealDB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606040" y="1581912"/>
            <a:ext cx="402336" cy="402336"/>
          </a:xfrm>
          <a:prstGeom prst="ellipse">
            <a:avLst/>
          </a:prstGeom>
          <a:solidFill>
            <a:srgbClr val="E6D9C3"/>
          </a:solidFill>
          <a:ln w="12700">
            <a:solidFill>
              <a:srgbClr val="7A665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108960" y="1783080"/>
            <a:ext cx="1508760" cy="0"/>
          </a:xfrm>
          <a:prstGeom prst="line">
            <a:avLst/>
          </a:prstGeom>
          <a:noFill/>
          <a:ln w="19050">
            <a:solidFill>
              <a:srgbClr val="7A6650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2606040" y="21488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Express server removes duplicates and numbers each event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1581912"/>
            <a:ext cx="402336" cy="402336"/>
          </a:xfrm>
          <a:prstGeom prst="ellipse">
            <a:avLst/>
          </a:prstGeom>
          <a:solidFill>
            <a:srgbClr val="E6D9C3"/>
          </a:solidFill>
          <a:ln w="12700">
            <a:solidFill>
              <a:srgbClr val="7A665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166360" y="1783080"/>
            <a:ext cx="1508760" cy="0"/>
          </a:xfrm>
          <a:prstGeom prst="line">
            <a:avLst/>
          </a:prstGeom>
          <a:noFill/>
          <a:ln w="19050">
            <a:solidFill>
              <a:srgbClr val="7A6650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4663440" y="21488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stream to the browser 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720840" y="1581912"/>
            <a:ext cx="402336" cy="402336"/>
          </a:xfrm>
          <a:prstGeom prst="ellipse">
            <a:avLst/>
          </a:prstGeom>
          <a:solidFill>
            <a:srgbClr val="E6D9C3"/>
          </a:solidFill>
          <a:ln w="12700">
            <a:solidFill>
              <a:srgbClr val="7A665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21488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updates the graph and shows a toast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65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6498EBF-2733-5E89-17AB-448C3E0689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930" y="2979950"/>
            <a:ext cx="3529716" cy="173272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7A6650"/>
                </a:solidFill>
                <a:latin typeface="Calibri"/>
                <a:ea typeface="Calibri"/>
                <a:cs typeface="Calibri"/>
              </a:rPr>
              <a:t>9  ·  THE APP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B2F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tour of six pages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603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7A6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and recent activity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337560" y="25603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Directory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7A6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filter, add, edit, delete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25603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7A6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student and their connections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2519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Explorer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7A6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network with hop slider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337560" y="42519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Mentorship Center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7A6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and atomic accept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42519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7A6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feed of changes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65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C849B38-2C79-3637-B182-E16C9531AE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289" y="1182624"/>
            <a:ext cx="3021111" cy="133197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1D93FD0-8D40-6B0B-99E7-3B1DDFFD0E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2" y="1182624"/>
            <a:ext cx="2788920" cy="133197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7780CC7-8706-F120-1692-8AD03DB63A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1156" y="1182624"/>
            <a:ext cx="2662428" cy="131149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294AB6D-23F7-C037-081A-8D36C73908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290" y="3017520"/>
            <a:ext cx="3021110" cy="123444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CFFE0F6-D7EA-6117-CAD5-960CF0B613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08606" y="3063240"/>
            <a:ext cx="2755392" cy="118872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CB63438-1D0F-C0F3-9CF4-41B114CE746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01156" y="3063238"/>
            <a:ext cx="2662428" cy="118872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b="1" kern="0" spc="300">
                <a:solidFill>
                  <a:srgbClr val="7A6650"/>
                </a:solidFill>
                <a:latin typeface="Calibri"/>
                <a:ea typeface="Calibri"/>
                <a:cs typeface="Calibri"/>
              </a:rPr>
              <a:t>10·  GRAPH VS DOCUMENT VS RELATIONAL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B2F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dataset, three ways to model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172200" y="1463040"/>
            <a:ext cx="2514600" cy="3154680"/>
          </a:xfrm>
          <a:prstGeom prst="roundRect">
            <a:avLst>
              <a:gd name="adj" fmla="val 3636"/>
            </a:avLst>
          </a:prstGeom>
          <a:solidFill>
            <a:srgbClr val="EAD7BE"/>
          </a:solidFill>
          <a:ln w="6350">
            <a:solidFill>
              <a:srgbClr val="EAD7B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48840" y="15727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3B2F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15727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3B2F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355080" y="157276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A06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223760" y="166420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A6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(this project)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057400"/>
            <a:ext cx="8046720" cy="0"/>
          </a:xfrm>
          <a:prstGeom prst="line">
            <a:avLst/>
          </a:prstGeom>
          <a:noFill/>
          <a:ln w="9525">
            <a:solidFill>
              <a:srgbClr val="D3C2A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1488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7A6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148840" y="21488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 and join tables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21488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arrays or references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21488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A06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that carry their own fields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2697480"/>
            <a:ext cx="8046720" cy="0"/>
          </a:xfrm>
          <a:prstGeom prst="line">
            <a:avLst/>
          </a:prstGeom>
          <a:noFill/>
          <a:ln w="9525">
            <a:solidFill>
              <a:srgbClr val="D3C2A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2788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7A6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 QUERIES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148840" y="27889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JOINs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27889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code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27889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A06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traversal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337560"/>
            <a:ext cx="8046720" cy="0"/>
          </a:xfrm>
          <a:prstGeom prst="line">
            <a:avLst/>
          </a:prstGeom>
          <a:noFill/>
          <a:ln w="9525">
            <a:solidFill>
              <a:srgbClr val="D3C2A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3429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7A6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ATTRIBUTES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2148840" y="34290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columns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206240" y="34290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Awkward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34290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A06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3977640"/>
            <a:ext cx="8046720" cy="0"/>
          </a:xfrm>
          <a:prstGeom prst="line">
            <a:avLst/>
          </a:prstGeom>
          <a:noFill/>
          <a:ln w="9525">
            <a:solidFill>
              <a:srgbClr val="D3C2A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4069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7A6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2148840" y="4069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reports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206240" y="4069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records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355080" y="40690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A06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data</a:t>
            </a:r>
            <a:endParaRPr lang="en-US" sz="14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65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7A6650"/>
                </a:solidFill>
                <a:latin typeface="Calibri"/>
                <a:ea typeface="Calibri"/>
                <a:cs typeface="Calibri"/>
              </a:rPr>
              <a:t>11  ·  DATABASE COMPARISON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B2F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databases, one honest comparison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60520" y="1463040"/>
            <a:ext cx="2240280" cy="2926080"/>
          </a:xfrm>
          <a:prstGeom prst="roundRect">
            <a:avLst>
              <a:gd name="adj" fmla="val 4082"/>
            </a:avLst>
          </a:prstGeom>
          <a:solidFill>
            <a:srgbClr val="EAD7BE"/>
          </a:solidFill>
          <a:ln w="6350">
            <a:solidFill>
              <a:srgbClr val="EAD7B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011680" y="15544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3B2F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251960" y="15544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A06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SurrealDB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92240" y="15544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3B2F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Neo4j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8046720" cy="0"/>
          </a:xfrm>
          <a:prstGeom prst="line">
            <a:avLst/>
          </a:prstGeom>
          <a:noFill/>
          <a:ln w="9525">
            <a:solidFill>
              <a:srgbClr val="D3C2A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975104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7A6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AND LANGUAGE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2011680" y="19476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Relational, SQL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251960" y="194767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06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(documents + graph), SurrealQL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19476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only, Cypher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331720"/>
            <a:ext cx="8046720" cy="0"/>
          </a:xfrm>
          <a:prstGeom prst="line">
            <a:avLst/>
          </a:prstGeom>
          <a:noFill/>
          <a:ln w="9525">
            <a:solidFill>
              <a:srgbClr val="D3C2A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386584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7A6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2011680" y="23591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 and join tables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251960" y="23591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06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with their own fields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23591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with their own properties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2743200"/>
            <a:ext cx="8046720" cy="0"/>
          </a:xfrm>
          <a:prstGeom prst="line">
            <a:avLst/>
          </a:prstGeom>
          <a:noFill/>
          <a:ln w="9525">
            <a:solidFill>
              <a:srgbClr val="D3C2A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2798064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7A6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 QUERIES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2011680" y="27706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or recursive JOINs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251960" y="27706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06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traversal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27706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matching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154680"/>
            <a:ext cx="8046720" cy="0"/>
          </a:xfrm>
          <a:prstGeom prst="line">
            <a:avLst/>
          </a:prstGeom>
          <a:noFill/>
          <a:ln w="9525">
            <a:solidFill>
              <a:srgbClr val="D3C2A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3209544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7A6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2011680" y="31821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built-in push; polling or extra tools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251960" y="318211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06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live queries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492240" y="31821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extra setup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3566160"/>
            <a:ext cx="8046720" cy="0"/>
          </a:xfrm>
          <a:prstGeom prst="line">
            <a:avLst/>
          </a:prstGeom>
          <a:noFill/>
          <a:ln w="9525">
            <a:solidFill>
              <a:srgbClr val="D3C2A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3621024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7A6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2011680" y="35935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mature, widely used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251960" y="359359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06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Younger, smaller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492240" y="35935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Mature, large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3977640"/>
            <a:ext cx="8046720" cy="0"/>
          </a:xfrm>
          <a:prstGeom prst="line">
            <a:avLst/>
          </a:prstGeom>
          <a:noFill/>
          <a:ln w="9525">
            <a:solidFill>
              <a:srgbClr val="D3C2A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48640" y="4032504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7A6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2011680" y="40050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Tabular, transactional data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4251960" y="400507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06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mixing records, graph and live data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492240" y="40050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graph analytics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449884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7A6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chose SurrealDB because the project requires it; we make no performance claims.</a:t>
            </a:r>
            <a:endParaRPr lang="en-US" sz="12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65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7A6650"/>
                </a:solidFill>
                <a:latin typeface="Calibri"/>
                <a:ea typeface="Calibri"/>
                <a:cs typeface="Calibri"/>
              </a:rPr>
              <a:t>12  ·  GRAPH TRAVERSAL QUERIES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" y="474785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B2F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questions, one hop at a time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11492" y="15502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06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28003" y="1550761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friends of a student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11492" y="18425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06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28980" y="1823469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 and mentees of a student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11492" y="21488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06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29827" y="2148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two relationship hops away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11492" y="24551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06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29827" y="24551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Friends two students have in common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11492" y="27614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06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28003" y="2760685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whose skills match an interest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11492" y="30678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06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29827" y="30678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mentors (skills + relationship path)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11492" y="337413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06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29827" y="33741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with the most connections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11492" y="36804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06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29827" y="36804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network across departments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11492" y="398678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06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29827" y="39867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mentorship requests for a mentor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11492" y="42931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06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29827" y="42931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within N hops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65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A6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·  LIMITATIONS AND FUTURE WORK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B2F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stop, and where we go next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A6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120640" y="1463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A06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8046720" cy="0"/>
          </a:xfrm>
          <a:prstGeom prst="line">
            <a:avLst/>
          </a:prstGeom>
          <a:noFill/>
          <a:ln w="9525">
            <a:solidFill>
              <a:srgbClr val="D3C2A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83794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6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identity only, no real login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0" y="2066544"/>
            <a:ext cx="731520" cy="0"/>
          </a:xfrm>
          <a:prstGeom prst="line">
            <a:avLst/>
          </a:prstGeom>
          <a:noFill/>
          <a:ln w="22225">
            <a:solidFill>
              <a:srgbClr val="A0653A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5120640" y="183794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authentication and record-level permissions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350008"/>
            <a:ext cx="8046720" cy="0"/>
          </a:xfrm>
          <a:prstGeom prst="line">
            <a:avLst/>
          </a:prstGeom>
          <a:noFill/>
          <a:ln w="9525">
            <a:solidFill>
              <a:srgbClr val="D3C2A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4048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6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dataset, no benchmarks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14800" y="2633472"/>
            <a:ext cx="731520" cy="0"/>
          </a:xfrm>
          <a:prstGeom prst="line">
            <a:avLst/>
          </a:prstGeom>
          <a:noFill/>
          <a:ln w="22225">
            <a:solidFill>
              <a:srgbClr val="A0653A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5120640" y="240487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testing on larger graphs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2916936"/>
            <a:ext cx="8046720" cy="0"/>
          </a:xfrm>
          <a:prstGeom prst="line">
            <a:avLst/>
          </a:prstGeom>
          <a:noFill/>
          <a:ln w="9525">
            <a:solidFill>
              <a:srgbClr val="D3C2A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29718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6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events go through one server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0" y="3200400"/>
            <a:ext cx="731520" cy="0"/>
          </a:xfrm>
          <a:prstGeom prst="line">
            <a:avLst/>
          </a:prstGeom>
          <a:noFill/>
          <a:ln w="22225">
            <a:solidFill>
              <a:srgbClr val="A0653A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5120640" y="29718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message bus for several servers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483864"/>
            <a:ext cx="8046720" cy="0"/>
          </a:xfrm>
          <a:prstGeom prst="line">
            <a:avLst/>
          </a:prstGeom>
          <a:noFill/>
          <a:ln w="9525">
            <a:solidFill>
              <a:srgbClr val="D3C2A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35387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6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Younger ecosystem than Neo4j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114800" y="3767328"/>
            <a:ext cx="731520" cy="0"/>
          </a:xfrm>
          <a:prstGeom prst="line">
            <a:avLst/>
          </a:prstGeom>
          <a:noFill/>
          <a:ln w="22225">
            <a:solidFill>
              <a:srgbClr val="A0653A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5120640" y="353872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analytics such as centrality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4050792"/>
            <a:ext cx="8046720" cy="0"/>
          </a:xfrm>
          <a:prstGeom prst="line">
            <a:avLst/>
          </a:prstGeom>
          <a:noFill/>
          <a:ln w="9525">
            <a:solidFill>
              <a:srgbClr val="D3C2A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410565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6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Traversal depth is capped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114800" y="4334256"/>
            <a:ext cx="731520" cy="0"/>
          </a:xfrm>
          <a:prstGeom prst="line">
            <a:avLst/>
          </a:prstGeom>
          <a:noFill/>
          <a:ln w="22225">
            <a:solidFill>
              <a:srgbClr val="A0653A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5120640" y="410565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recommendations from shared skills and mutual friends</a:t>
            </a:r>
            <a:endParaRPr lang="en-US" sz="14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65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A6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·  CONCLUSION AND REFERENCES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B2F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proved, and what we stood 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91640"/>
            <a:ext cx="365760" cy="365760"/>
          </a:xfrm>
          <a:prstGeom prst="ellipse">
            <a:avLst/>
          </a:prstGeom>
          <a:solidFill>
            <a:srgbClr val="E6D9C3"/>
          </a:solidFill>
          <a:ln w="12700">
            <a:solidFill>
              <a:srgbClr val="7A665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563624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are first-class data in a graph model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404872"/>
            <a:ext cx="365760" cy="365760"/>
          </a:xfrm>
          <a:prstGeom prst="ellipse">
            <a:avLst/>
          </a:prstGeom>
          <a:solidFill>
            <a:srgbClr val="E6D9C3"/>
          </a:solidFill>
          <a:ln w="12700">
            <a:solidFill>
              <a:srgbClr val="7A665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276856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SurrealDB gave us edges, transactions and live queries in one database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118104"/>
            <a:ext cx="365760" cy="365760"/>
          </a:xfrm>
          <a:prstGeom prst="ellipse">
            <a:avLst/>
          </a:prstGeom>
          <a:solidFill>
            <a:srgbClr val="E6D9C3"/>
          </a:solidFill>
          <a:ln w="12700">
            <a:solidFill>
              <a:srgbClr val="7A665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990088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are enforced in the database, so invalid states cannot be saved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3831336"/>
            <a:ext cx="365760" cy="365760"/>
          </a:xfrm>
          <a:prstGeom prst="ellipse">
            <a:avLst/>
          </a:prstGeom>
          <a:solidFill>
            <a:srgbClr val="E6D9C3"/>
          </a:solidFill>
          <a:ln w="12700">
            <a:solidFill>
              <a:srgbClr val="7A665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703320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>
                <a:solidFill>
                  <a:srgbClr val="3B2F25"/>
                </a:solidFill>
                <a:latin typeface="Calibri"/>
                <a:ea typeface="Calibri"/>
                <a:cs typeface="Calibri"/>
              </a:rPr>
              <a:t>Tested: 10 backend tests pass, plus a two-window live </a:t>
            </a:r>
            <a:r>
              <a:rPr lang="en-US" sz="1500" dirty="0">
                <a:solidFill>
                  <a:srgbClr val="3B2F25"/>
                </a:solidFill>
                <a:latin typeface="Calibri"/>
                <a:ea typeface="Calibri"/>
                <a:cs typeface="Calibri"/>
              </a:rPr>
              <a:t>demo</a:t>
            </a:r>
            <a:endParaRPr lang="en-US" sz="1500">
              <a:latin typeface="Calibri"/>
              <a:ea typeface="Calibri"/>
              <a:cs typeface="Calibri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852160" y="1554480"/>
            <a:ext cx="2743200" cy="2926080"/>
          </a:xfrm>
          <a:prstGeom prst="roundRect">
            <a:avLst>
              <a:gd name="adj" fmla="val 3333"/>
            </a:avLst>
          </a:prstGeom>
          <a:solidFill>
            <a:srgbClr val="E6D9C3"/>
          </a:solidFill>
          <a:ln w="6350">
            <a:solidFill>
              <a:srgbClr val="E6D9C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26480" y="17830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A06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2194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SurrealDB documentation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26334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SurrealDB JavaScript SDK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126480" y="30723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Cytoscape.js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126480" y="351129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39502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B2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65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mpus Beige">
  <a:themeElements>
    <a:clrScheme name="Campus Beige">
      <a:dk1>
        <a:srgbClr val="3B2F25"/>
      </a:dk1>
      <a:lt1>
        <a:srgbClr val="F4EDE1"/>
      </a:lt1>
      <a:dk2>
        <a:srgbClr val="7A6650"/>
      </a:dk2>
      <a:lt2>
        <a:srgbClr val="E6D9C3"/>
      </a:lt2>
      <a:accent1>
        <a:srgbClr val="A0653A"/>
      </a:accent1>
      <a:accent2>
        <a:srgbClr val="B07A4F"/>
      </a:accent2>
      <a:accent3>
        <a:srgbClr val="D3C2A5"/>
      </a:accent3>
      <a:accent4>
        <a:srgbClr val="7A6650"/>
      </a:accent4>
      <a:accent5>
        <a:srgbClr val="C9A27A"/>
      </a:accent5>
      <a:accent6>
        <a:srgbClr val="8C7860"/>
      </a:accent6>
      <a:hlink>
        <a:srgbClr val="A0653A"/>
      </a:hlink>
      <a:folHlink>
        <a:srgbClr val="7A6650"/>
      </a:folHlink>
    </a:clrScheme>
    <a:fontScheme name="Campus Beig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994</Words>
  <Application>Microsoft Office PowerPoint</Application>
  <PresentationFormat>On-screen Show (16:9)</PresentationFormat>
  <Paragraphs>261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Campus Beige</vt:lpstr>
      <vt:lpstr>PowerPoint Presentation</vt:lpstr>
      <vt:lpstr>The toolkit behind the network</vt:lpstr>
      <vt:lpstr>How a click travels, and finds its way back</vt:lpstr>
      <vt:lpstr>Your campus is a web, not a spreadsheet</vt:lpstr>
      <vt:lpstr>Dots, and the lines that connect them</vt:lpstr>
      <vt:lpstr>Rules the database refuses to break</vt:lpstr>
      <vt:lpstr>Accept it all, or accept nothing</vt:lpstr>
      <vt:lpstr>Click here, watch it appear there</vt:lpstr>
      <vt:lpstr>A tour of six pages</vt:lpstr>
      <vt:lpstr>One dataset, three ways to model it</vt:lpstr>
      <vt:lpstr>Three databases, one honest comparison</vt:lpstr>
      <vt:lpstr>Ten questions, one hop at a time</vt:lpstr>
      <vt:lpstr>Where we stop, and where we go next</vt:lpstr>
      <vt:lpstr>What we proved, and what we stood 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 Connect</dc:title>
  <dc:subject>PptxGenJS Presentation</dc:subject>
  <dc:creator>PptxGenJS</dc:creator>
  <cp:lastModifiedBy>SUDHARSHAN K</cp:lastModifiedBy>
  <cp:revision>59</cp:revision>
  <dcterms:created xsi:type="dcterms:W3CDTF">2026-10-13T18:43:28Z</dcterms:created>
  <dcterms:modified xsi:type="dcterms:W3CDTF">2026-10-13T20:48:09Z</dcterms:modified>
</cp:coreProperties>
</file>